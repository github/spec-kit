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12188952" cy="54864"/>
          </a:xfrm>
          <a:prstGeom prst="rect">
            <a:avLst/>
          </a:prstGeom>
          <a:solidFill>
            <a:srgbClr val="1A7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122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57200"/>
            <a:ext cx="1645920" cy="411480"/>
          </a:xfrm>
          <a:prstGeom prst="roundRect">
            <a:avLst>
              <a:gd name="adj" fmla="val 5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548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SPEC-KIT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Spec-Driven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58A6FF"/>
                </a:solidFill>
              </a:rPr>
              <a:t>vs  Vibe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9D1D9"/>
                </a:solidFill>
              </a:rPr>
              <a:t>How Spec-Kit Transforms AI-Assisted Software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46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From Chaos to Clarity  ·  From Prompts to Executable Specifications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114800"/>
            <a:ext cx="2468880" cy="82296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38636"/>
                </a:solidFill>
              </a:rPr>
              <a:t>17+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</a:rPr>
              <a:t>AI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4114800"/>
            <a:ext cx="2468880" cy="82296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41605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38636"/>
                </a:solidFill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57200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</a:rPr>
              <a:t>Core Commands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114800"/>
            <a:ext cx="2468880" cy="82296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41605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38636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57200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</a:rPr>
              <a:t>Dev Phases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4114800"/>
            <a:ext cx="2468880" cy="82296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1605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38636"/>
                </a:solidFill>
              </a:rPr>
              <a:t>0.1.13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457200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D1D9"/>
                </a:solidFill>
              </a:rPr>
              <a:t>Latest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6510528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github.com/github/spec-kit  ·  MIT License  ·  Open Source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We'll Cover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577840" cy="1143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" y="1463040"/>
            <a:ext cx="502920" cy="50292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49047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2984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The Vibe Coding Crisis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66420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Why iterative, prompt-only dev breaks down at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14600"/>
            <a:ext cx="5577840" cy="1143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5488" y="2788920"/>
            <a:ext cx="502920" cy="50292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81635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624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Traditional SDLC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99008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Where it came from and what it got right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840480"/>
            <a:ext cx="5577840" cy="1143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5488" y="4114800"/>
            <a:ext cx="502920" cy="50292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1422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9502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Spec-Driven 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31596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The methodology that bridges planning and AI execution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166359"/>
            <a:ext cx="5577840" cy="1143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5488" y="5440679"/>
            <a:ext cx="502920" cy="50292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546811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52760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Spec-Kit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564184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8 commands, constitutional framework, multi-agent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188720"/>
            <a:ext cx="5577840" cy="1143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19088" y="1463040"/>
            <a:ext cx="502920" cy="50292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149047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12984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Workflow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166420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Step-by-step SDD vs Vibe Coding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2514600"/>
            <a:ext cx="5577840" cy="1143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19088" y="2788920"/>
            <a:ext cx="502920" cy="50292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81635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26243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Levels of Spec-Driven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9168" y="299008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spec-as-source → spec-anchored → spec-first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840480"/>
            <a:ext cx="5577840" cy="1143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>
            <a:solidFill>
              <a:srgbClr val="3038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419088" y="4114800"/>
            <a:ext cx="502920" cy="50292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1422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39502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4315968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Install, init, and ship in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Vibe Coding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</a:rPr>
              <a:t>Why 'just prompt the AI' falls apart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11640312" cy="5394960"/>
          </a:xfrm>
          <a:prstGeom prst="rect">
            <a:avLst/>
          </a:prstGeom>
          <a:solidFill>
            <a:srgbClr val="1206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40312" cy="36576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A3633"/>
                </a:solidFill>
              </a:rPr>
              <a:t>"Vibe Coding" Failure Loop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1920240"/>
            <a:ext cx="1280160" cy="12801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Write
Prompt</a:t>
            </a:r>
          </a:p>
        </p:txBody>
      </p:sp>
      <p:sp>
        <p:nvSpPr>
          <p:cNvPr id="10" name="Can 9"/>
          <p:cNvSpPr/>
          <p:nvPr/>
        </p:nvSpPr>
        <p:spPr>
          <a:xfrm>
            <a:off x="2423160" y="2423160"/>
            <a:ext cx="548640" cy="274320"/>
          </a:xfrm>
          <a:prstGeom prst="can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0" y="1920240"/>
            <a:ext cx="1280160" cy="1280160"/>
          </a:xfrm>
          <a:prstGeom prst="ellipse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9202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Generates
Code</a:t>
            </a:r>
          </a:p>
        </p:txBody>
      </p:sp>
      <p:sp>
        <p:nvSpPr>
          <p:cNvPr id="13" name="Can 12"/>
          <p:cNvSpPr/>
          <p:nvPr/>
        </p:nvSpPr>
        <p:spPr>
          <a:xfrm>
            <a:off x="4526280" y="2423160"/>
            <a:ext cx="548640" cy="274320"/>
          </a:xfrm>
          <a:prstGeom prst="can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0" y="1920240"/>
            <a:ext cx="1280160" cy="1280160"/>
          </a:xfrm>
          <a:prstGeom prst="ellipse">
            <a:avLst/>
          </a:prstGeom>
          <a:solidFill>
            <a:srgbClr val="F0D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9202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Test &amp;
Evaluate</a:t>
            </a:r>
          </a:p>
        </p:txBody>
      </p:sp>
      <p:sp>
        <p:nvSpPr>
          <p:cNvPr id="16" name="Can 15"/>
          <p:cNvSpPr/>
          <p:nvPr/>
        </p:nvSpPr>
        <p:spPr>
          <a:xfrm>
            <a:off x="6629400" y="2423160"/>
            <a:ext cx="548640" cy="274320"/>
          </a:xfrm>
          <a:prstGeom prst="can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06640" y="1920240"/>
            <a:ext cx="1280160" cy="1280160"/>
          </a:xfrm>
          <a:prstGeom prst="ellipse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9202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Not Right?
Edit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78516"/>
                </a:solidFill>
              </a:rPr>
              <a:t>↩  Iteration loop — can repeat dozens of times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77639"/>
            <a:ext cx="5577840" cy="749808"/>
          </a:xfrm>
          <a:prstGeom prst="roundRect">
            <a:avLst>
              <a:gd name="adj" fmla="val 5000"/>
            </a:avLst>
          </a:prstGeom>
          <a:solidFill>
            <a:srgbClr val="2A1010"/>
          </a:solidFill>
          <a:ln w="1016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142231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A3633"/>
                </a:solidFill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05079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Shared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343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AI forgets context between sessions — inconsistent decisions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577840" cy="749808"/>
          </a:xfrm>
          <a:prstGeom prst="roundRect">
            <a:avLst>
              <a:gd name="adj" fmla="val 5000"/>
            </a:avLst>
          </a:prstGeom>
          <a:solidFill>
            <a:srgbClr val="2A1010"/>
          </a:solidFill>
          <a:ln w="1016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142231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A3633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5079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Spec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3434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Code diverges from original intent with every iteration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46320"/>
            <a:ext cx="5577840" cy="749808"/>
          </a:xfrm>
          <a:prstGeom prst="roundRect">
            <a:avLst>
              <a:gd name="adj" fmla="val 5000"/>
            </a:avLst>
          </a:prstGeom>
          <a:solidFill>
            <a:srgbClr val="2A1010"/>
          </a:solidFill>
          <a:ln w="1016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0109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A3633"/>
                </a:solidFill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919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Hidden Complexity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2120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Edge cases pile up invisibly until launch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846320"/>
            <a:ext cx="5577840" cy="749808"/>
          </a:xfrm>
          <a:prstGeom prst="roundRect">
            <a:avLst>
              <a:gd name="adj" fmla="val 5000"/>
            </a:avLst>
          </a:prstGeom>
          <a:solidFill>
            <a:srgbClr val="2A1010"/>
          </a:solidFill>
          <a:ln w="1016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50109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A3633"/>
                </a:solidFill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4919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Time Waste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52120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Hours of back-and-forth for tasks solvable in minutes with a spec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715000"/>
            <a:ext cx="5577840" cy="749808"/>
          </a:xfrm>
          <a:prstGeom prst="roundRect">
            <a:avLst>
              <a:gd name="adj" fmla="val 5000"/>
            </a:avLst>
          </a:prstGeom>
          <a:solidFill>
            <a:srgbClr val="2A1010"/>
          </a:solidFill>
          <a:ln w="1016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8795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A3633"/>
                </a:solidFill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788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Contract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6080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Nothing governs what 'done' means — quality is undefined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60" y="5715000"/>
            <a:ext cx="5577840" cy="749808"/>
          </a:xfrm>
          <a:prstGeom prst="roundRect">
            <a:avLst>
              <a:gd name="adj" fmla="val 5000"/>
            </a:avLst>
          </a:prstGeom>
          <a:solidFill>
            <a:srgbClr val="2A1010"/>
          </a:solidFill>
          <a:ln w="1016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587959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A3633"/>
                </a:solidFill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57881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Scale Failure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6080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Works for demos; breaks for real products with multiple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Traditional SDLC — A Brief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</a:rPr>
              <a:t>60+ years of software process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11430000" cy="54864"/>
          </a:xfrm>
          <a:prstGeom prst="rect">
            <a:avLst/>
          </a:prstGeom>
          <a:solidFill>
            <a:srgbClr val="1A7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1051560"/>
            <a:ext cx="274320" cy="274320"/>
          </a:xfrm>
          <a:prstGeom prst="ellipse">
            <a:avLst/>
          </a:prstGeom>
          <a:solidFill>
            <a:srgbClr val="1A7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2103120" cy="1920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1A7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1960s–70s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F8A"/>
                </a:solidFill>
              </a:rPr>
              <a:t>Waterfall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Sequential phases,
heavy docs</a:t>
            </a:r>
          </a:p>
        </p:txBody>
      </p:sp>
      <p:sp>
        <p:nvSpPr>
          <p:cNvPr id="11" name="Oval 10"/>
          <p:cNvSpPr/>
          <p:nvPr/>
        </p:nvSpPr>
        <p:spPr>
          <a:xfrm>
            <a:off x="3429000" y="1051560"/>
            <a:ext cx="274320" cy="27432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51760" y="1508760"/>
            <a:ext cx="2103120" cy="1920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572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1980s–90s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828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Spiral / RAD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2402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Risk-driven,
prototyping</a:t>
            </a:r>
          </a:p>
        </p:txBody>
      </p:sp>
      <p:sp>
        <p:nvSpPr>
          <p:cNvPr id="16" name="Oval 15"/>
          <p:cNvSpPr/>
          <p:nvPr/>
        </p:nvSpPr>
        <p:spPr>
          <a:xfrm>
            <a:off x="5715000" y="1051560"/>
            <a:ext cx="274320" cy="27432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37760" y="1508760"/>
            <a:ext cx="2103120" cy="1920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572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2000s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828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38636"/>
                </a:solidFill>
              </a:rPr>
              <a:t>Agile / Scrum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2402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Iterative sprints,
user stories</a:t>
            </a:r>
          </a:p>
        </p:txBody>
      </p:sp>
      <p:sp>
        <p:nvSpPr>
          <p:cNvPr id="21" name="Oval 20"/>
          <p:cNvSpPr/>
          <p:nvPr/>
        </p:nvSpPr>
        <p:spPr>
          <a:xfrm>
            <a:off x="8001000" y="1051560"/>
            <a:ext cx="274320" cy="274320"/>
          </a:xfrm>
          <a:prstGeom prst="ellipse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1508760"/>
            <a:ext cx="2103120" cy="1920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1572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2010s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828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8516"/>
                </a:solidFill>
              </a:rPr>
              <a:t>DevOps / 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2402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CI/CD pipelines,
Infrastructure-as-code</a:t>
            </a:r>
          </a:p>
        </p:txBody>
      </p:sp>
      <p:sp>
        <p:nvSpPr>
          <p:cNvPr id="26" name="Oval 25"/>
          <p:cNvSpPr/>
          <p:nvPr/>
        </p:nvSpPr>
        <p:spPr>
          <a:xfrm>
            <a:off x="10287000" y="1051560"/>
            <a:ext cx="274320" cy="274320"/>
          </a:xfrm>
          <a:prstGeom prst="ellipse">
            <a:avLst/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09760" y="1508760"/>
            <a:ext cx="2103120" cy="19202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79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1572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2020s+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18288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4CFF"/>
                </a:solidFill>
              </a:rPr>
              <a:t>AI-Assisted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24028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LLM co-pilots,
Spec-Driven Dev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3703320"/>
            <a:ext cx="914400" cy="347472"/>
          </a:xfrm>
          <a:prstGeom prst="roundRect">
            <a:avLst>
              <a:gd name="adj" fmla="val 5000"/>
            </a:avLst>
          </a:prstGeom>
          <a:solidFill>
            <a:srgbClr val="1A7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0" y="3721607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36833" y="4133671"/>
            <a:ext cx="914400" cy="347472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6833" y="4151959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Analyze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57542" y="5100661"/>
            <a:ext cx="914400" cy="347472"/>
          </a:xfrm>
          <a:prstGeom prst="roundRect">
            <a:avLst>
              <a:gd name="adj" fmla="val 5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57542" y="5118949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39129" y="5876127"/>
            <a:ext cx="914400" cy="347472"/>
          </a:xfrm>
          <a:prstGeom prst="roundRect">
            <a:avLst>
              <a:gd name="adj" fmla="val 5000"/>
            </a:avLst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39129" y="5894415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Implement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47270" y="5876127"/>
            <a:ext cx="914400" cy="347472"/>
          </a:xfrm>
          <a:prstGeom prst="roundRect">
            <a:avLst>
              <a:gd name="adj" fmla="val 5000"/>
            </a:avLst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47270" y="5894415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628857" y="5100661"/>
            <a:ext cx="914400" cy="347472"/>
          </a:xfrm>
          <a:prstGeom prst="roundRect">
            <a:avLst>
              <a:gd name="adj" fmla="val 5000"/>
            </a:avLst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28857" y="5118949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49566" y="4133671"/>
            <a:ext cx="914400" cy="347472"/>
          </a:xfrm>
          <a:prstGeom prst="roundRect">
            <a:avLst>
              <a:gd name="adj" fmla="val 5000"/>
            </a:avLst>
          </a:prstGeom>
          <a:solidFill>
            <a:srgbClr val="F0D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49566" y="4151959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Maintain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6309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949E"/>
                </a:solidFill>
              </a:rPr>
              <a:t>Classic SDLC Phases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611880"/>
            <a:ext cx="5486400" cy="3017520"/>
          </a:xfrm>
          <a:prstGeom prst="rect">
            <a:avLst/>
          </a:prstGeom>
          <a:solidFill>
            <a:srgbClr val="1016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6301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SDLC   ↔   Spec-Driven Dev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40416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8636"/>
                </a:solidFill>
              </a:rPr>
              <a:t>Similarities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43159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Phases: plan → design → build → 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5902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Requirements define the contract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86460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Quality gates before shipping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523036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A3633"/>
                </a:solidFill>
              </a:rPr>
              <a:t>Differences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550468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SDD: specs are executable, not static docs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577900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SDD: AI is co-author throughout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6053327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SDD: iteration is structured, not freeform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Spec-Driven Development (SDD)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</a:rPr>
              <a:t>Specifications become the executable source of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11430000" cy="1005840"/>
          </a:xfrm>
          <a:prstGeom prst="roundRect">
            <a:avLst>
              <a:gd name="adj" fmla="val 5000"/>
            </a:avLst>
          </a:prstGeom>
          <a:solidFill>
            <a:srgbClr val="0C2514"/>
          </a:solidFill>
          <a:ln w="254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"SDD is a methodology where specifications are not just documents — they are directly executable artifacts that drive code generation, quality assurance, and project governance."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3317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2423160"/>
            <a:ext cx="594360" cy="59436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4231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8636"/>
                </a:solidFill>
              </a:rPr>
              <a:t>Specification
as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</a:rPr>
              <a:t>Specs generate code,
not just guide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3317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2423160"/>
            <a:ext cx="594360" cy="59436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4231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8A6FF"/>
                </a:solidFill>
              </a:rPr>
              <a:t>Constitutional
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611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</a:rPr>
              <a:t>9 immutable articles
shape every decision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3317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0" y="2423160"/>
            <a:ext cx="594360" cy="594360"/>
          </a:xfrm>
          <a:prstGeom prst="ellipse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24231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8516"/>
                </a:solidFill>
              </a:rPr>
              <a:t>Multi-Agent
Compatibility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11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</a:rPr>
              <a:t>Works with 17+ AI
coding assistants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23317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79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2423160"/>
            <a:ext cx="594360" cy="594360"/>
          </a:xfrm>
          <a:prstGeom prst="ellipse">
            <a:avLst/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24231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1089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94CFF"/>
                </a:solidFill>
              </a:rPr>
              <a:t>Quality
By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6118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9D1D9"/>
                </a:solidFill>
              </a:rPr>
              <a:t>Tests and checklists
baked into workflow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3159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SDD vs  Traditional Approaches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09160"/>
            <a:ext cx="11430000" cy="320040"/>
          </a:xfrm>
          <a:prstGeom prst="rect">
            <a:avLst/>
          </a:prstGeom>
          <a:solidFill>
            <a:srgbClr val="20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736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Aspect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736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Traditional / Vibe Coding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736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Spec-Driven Development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074920"/>
            <a:ext cx="11430000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206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D1D9"/>
                </a:solidFill>
              </a:rPr>
              <a:t>Requirement Docs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1206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A3633"/>
                </a:solidFill>
              </a:rPr>
              <a:t>Static PDFs, rarely updated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120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8636"/>
                </a:solidFill>
              </a:rPr>
              <a:t>Living specs that execute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458968"/>
            <a:ext cx="11430000" cy="365760"/>
          </a:xfrm>
          <a:prstGeom prst="rect">
            <a:avLst/>
          </a:prstGeom>
          <a:solidFill>
            <a:srgbClr val="12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04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D1D9"/>
                </a:solidFill>
              </a:rPr>
              <a:t>AI Role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550468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A3633"/>
                </a:solidFill>
              </a:rPr>
              <a:t>Prompted ad-hoc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5046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8636"/>
                </a:solidFill>
              </a:rPr>
              <a:t>Constitutional co-author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843016"/>
            <a:ext cx="11430000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88873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D1D9"/>
                </a:solidFill>
              </a:rPr>
              <a:t>Quality Control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588873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A3633"/>
                </a:solidFill>
              </a:rPr>
              <a:t>Manual review after coding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8887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8636"/>
                </a:solidFill>
              </a:rPr>
              <a:t>Checklist-driven, built-in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227064"/>
            <a:ext cx="11430000" cy="365760"/>
          </a:xfrm>
          <a:prstGeom prst="rect">
            <a:avLst/>
          </a:prstGeom>
          <a:solidFill>
            <a:srgbClr val="121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27278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9D1D9"/>
                </a:solidFill>
              </a:rPr>
              <a:t>Iteration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34640" y="6272783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A3633"/>
                </a:solidFill>
              </a:rPr>
              <a:t>Unstructured guess-and-check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6272783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38636"/>
                </a:solidFill>
              </a:rPr>
              <a:t>Governed by specification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Spec-Kit?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</a:rPr>
              <a:t>An open-source toolkit for Spec-Driven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5303520" cy="5486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8A6FF"/>
                </a:solidFill>
              </a:rPr>
              <a:t>Core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691640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specify init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476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Bootstrap any project with SDD in seconds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350008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500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8 Slash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From /speckit.specify to /speckit.implement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008376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0837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17+ AI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644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Claude, Copilot, Gemini, Cursor, and more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666744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6674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Extension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227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Modular add-ons without bloating 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325112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3251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Constitutional FW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8114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9 articles that govern ALL decisions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983479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8347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Cross-Artifact 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395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Analyze consistency across all specs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41848"/>
            <a:ext cx="45720" cy="4114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418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Template Library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978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Structured templates for specs, plans,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52160" y="1645920"/>
            <a:ext cx="6035040" cy="658368"/>
          </a:xfrm>
          <a:prstGeom prst="roundRect">
            <a:avLst>
              <a:gd name="adj" fmla="val 5000"/>
            </a:avLst>
          </a:prstGeom>
          <a:solidFill>
            <a:srgbClr val="0E151E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16752" y="1700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AI Agent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6752" y="19933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Claude · Copilot · Gemini · Cursor · 13 more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2313432"/>
            <a:ext cx="36576" cy="18288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852160" y="2468880"/>
            <a:ext cx="6035040" cy="658368"/>
          </a:xfrm>
          <a:prstGeom prst="roundRect">
            <a:avLst>
              <a:gd name="adj" fmla="val 5000"/>
            </a:avLst>
          </a:prstGeom>
          <a:solidFill>
            <a:srgbClr val="0E151E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25237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636"/>
                </a:solidFill>
              </a:rPr>
              <a:t>Slash Commands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16752" y="281635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/specify  /plan  /implement  /analyze  /tasks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3136392"/>
            <a:ext cx="36576" cy="18288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52160" y="3291840"/>
            <a:ext cx="6035040" cy="658368"/>
          </a:xfrm>
          <a:prstGeom prst="roundRect">
            <a:avLst>
              <a:gd name="adj" fmla="val 5000"/>
            </a:avLst>
          </a:prstGeom>
          <a:solidFill>
            <a:srgbClr val="0E151E"/>
          </a:solidFill>
          <a:ln w="1905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16752" y="33467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516"/>
                </a:solidFill>
              </a:rPr>
              <a:t>Template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752" y="363931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spec.md · plan.md · tasks.md · constitution.md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3959352"/>
            <a:ext cx="36576" cy="18288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852160" y="4114800"/>
            <a:ext cx="6035040" cy="658368"/>
          </a:xfrm>
          <a:prstGeom prst="roundRect">
            <a:avLst>
              <a:gd name="adj" fmla="val 5000"/>
            </a:avLst>
          </a:prstGeom>
          <a:solidFill>
            <a:srgbClr val="0E151E"/>
          </a:solidFill>
          <a:ln w="19050">
            <a:solidFill>
              <a:srgbClr val="79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16752" y="416966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4CFF"/>
                </a:solidFill>
              </a:rPr>
              <a:t>Extension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16752" y="446227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Community extensions · Version management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4782312"/>
            <a:ext cx="36576" cy="18288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852160" y="4937760"/>
            <a:ext cx="6035040" cy="658368"/>
          </a:xfrm>
          <a:prstGeom prst="roundRect">
            <a:avLst>
              <a:gd name="adj" fmla="val 5000"/>
            </a:avLst>
          </a:prstGeom>
          <a:solidFill>
            <a:srgbClr val="0E151E"/>
          </a:solidFill>
          <a:ln w="19050">
            <a:solidFill>
              <a:srgbClr val="1A7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16752" y="4992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F8A"/>
                </a:solidFill>
              </a:rPr>
              <a:t>specify CLI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6752" y="528523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specify init · specify upgrade · specify list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5605272"/>
            <a:ext cx="36576" cy="18288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852160" y="5760720"/>
            <a:ext cx="6035040" cy="658368"/>
          </a:xfrm>
          <a:prstGeom prst="roundRect">
            <a:avLst>
              <a:gd name="adj" fmla="val 5000"/>
            </a:avLst>
          </a:prstGeom>
          <a:solidFill>
            <a:srgbClr val="0E151E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16752" y="581558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949E"/>
                </a:solidFill>
              </a:rPr>
              <a:t>Project Files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16752" y="61081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.specify/  · memory/ · commands/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8 Core Spec-Kit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</a:rPr>
              <a:t>A complete lifecycle from vision to verified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88720"/>
            <a:ext cx="56692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4632" y="1536192"/>
            <a:ext cx="548640" cy="54864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5361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261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38636"/>
                </a:solidFill>
              </a:rPr>
              <a:t>/speckit.constitution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5819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Establish governing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184708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Define the project's immutable rules: coding standards, architecture decisions, library choices.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188720"/>
            <a:ext cx="56692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28231" y="1536192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53619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261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/speckit.specify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5819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Define feature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84708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Create structured specs with user stories, acceptance criteria, and constraints.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2542032"/>
            <a:ext cx="56692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4632" y="2889504"/>
            <a:ext cx="548640" cy="548640"/>
          </a:xfrm>
          <a:prstGeom prst="ellipse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288950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19" y="26151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8516"/>
                </a:solidFill>
              </a:rPr>
              <a:t>/speckit.clarify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19" y="293522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Resolve ambiguities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19" y="32004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Structured Q&amp;A workflow to eliminate assumptions before any code is written.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542032"/>
            <a:ext cx="56692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0D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8231" y="2889504"/>
            <a:ext cx="548640" cy="548640"/>
          </a:xfrm>
          <a:prstGeom prst="ellipse">
            <a:avLst/>
          </a:prstGeom>
          <a:solidFill>
            <a:srgbClr val="F0D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8231" y="288950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6151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D044"/>
                </a:solidFill>
              </a:rPr>
              <a:t>/speckit.plan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93522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Generate implementation plans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2004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Turn requirements into concrete technical design documents with specific to-dos.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3895344"/>
            <a:ext cx="56692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79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4632" y="4242816"/>
            <a:ext cx="548640" cy="548640"/>
          </a:xfrm>
          <a:prstGeom prst="ellipse">
            <a:avLst/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" y="424281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19" y="39684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4CFF"/>
                </a:solidFill>
              </a:rPr>
              <a:t>/speckit.analyze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19" y="428853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Cross-artifact 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19" y="455371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Validate alignment between specs, plans, and code across the entire project.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895344"/>
            <a:ext cx="56692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1A7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28231" y="4242816"/>
            <a:ext cx="548640" cy="548640"/>
          </a:xfrm>
          <a:prstGeom prst="ellipse">
            <a:avLst/>
          </a:prstGeom>
          <a:solidFill>
            <a:srgbClr val="1A7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424281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9684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F8A"/>
                </a:solidFill>
              </a:rPr>
              <a:t>/speckit.tasks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428853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Break plans into tasks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553712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Convert design documents into actionable, sequenced implementation tasks.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5248655"/>
            <a:ext cx="56692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4632" y="5596127"/>
            <a:ext cx="548640" cy="548640"/>
          </a:xfrm>
          <a:prstGeom prst="ellipse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" y="5596127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19" y="53218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A3633"/>
                </a:solidFill>
              </a:rPr>
              <a:t>/speckit.implement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19" y="5641847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Execute all tasks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19" y="5907023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LLM agent writes code guided by design doc — less ambiguity, better output.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5248655"/>
            <a:ext cx="56692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F79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28231" y="5596127"/>
            <a:ext cx="548640" cy="548640"/>
          </a:xfrm>
          <a:prstGeom prst="ellipse">
            <a:avLst/>
          </a:prstGeom>
          <a:solidFill>
            <a:srgbClr val="FF79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28231" y="5596127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53218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9C6"/>
                </a:solidFill>
              </a:rPr>
              <a:t>/speckit.checklist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641847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Generate quality checklists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907023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Custom QA checklists derived from your requirements for validation and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Constitutional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</a:rPr>
              <a:t>9 immutable articles that govern every development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43000"/>
            <a:ext cx="3840480" cy="5394960"/>
          </a:xfrm>
          <a:prstGeom prst="roundRect">
            <a:avLst>
              <a:gd name="adj" fmla="val 5000"/>
            </a:avLst>
          </a:prstGeom>
          <a:solidFill>
            <a:srgbClr val="181205"/>
          </a:solidFill>
          <a:ln w="2540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78516"/>
                </a:solidFill>
              </a:rPr>
              <a:t>📜  Project Constitution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B949E"/>
                </a:solidFill>
              </a:rPr>
              <a:t>.specify/memory/
constitution.md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516"/>
                </a:solidFill>
              </a:rPr>
              <a:t>Art.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860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Library-First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42032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All features start as libraries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9067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516"/>
                </a:solidFill>
              </a:rPr>
              <a:t>Art.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906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CLI Mandate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46704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Text I/O, JSON support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89534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516"/>
                </a:solidFill>
              </a:rPr>
              <a:t>Art. 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9534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Test-First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151376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Tests written before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70001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516"/>
                </a:solidFill>
              </a:rPr>
              <a:t>Art. 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70001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Docs Living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956048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Specs updated with every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50468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516"/>
                </a:solidFill>
              </a:rPr>
              <a:t>Art. 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5046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Single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760720"/>
            <a:ext cx="3566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One source of truth per 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Remaining Articles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1645920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181205"/>
          </a:solidFill>
          <a:ln w="10160">
            <a:solidFill>
              <a:srgbClr val="503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170078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516"/>
                </a:solidFill>
              </a:rPr>
              <a:t>Article VI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17007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Semantic Versioning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1993392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All specs carry version numbers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2395728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181205"/>
          </a:solidFill>
          <a:ln w="10160">
            <a:solidFill>
              <a:srgbClr val="503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24505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516"/>
                </a:solidFill>
              </a:rPr>
              <a:t>Article VII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245059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Simplicity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74320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Max 3 projects initial implementation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145536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181205"/>
          </a:solidFill>
          <a:ln w="10160">
            <a:solidFill>
              <a:srgbClr val="503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516"/>
                </a:solidFill>
              </a:rPr>
              <a:t>Article VIII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32004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Anti-Abstraction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349300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Use frameworks directly, no wrappers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3895344"/>
            <a:ext cx="4114800" cy="640080"/>
          </a:xfrm>
          <a:prstGeom prst="roundRect">
            <a:avLst>
              <a:gd name="adj" fmla="val 5000"/>
            </a:avLst>
          </a:prstGeom>
          <a:solidFill>
            <a:srgbClr val="181205"/>
          </a:solidFill>
          <a:ln w="10160">
            <a:solidFill>
              <a:srgbClr val="503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26280" y="395020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78516"/>
                </a:solidFill>
              </a:rPr>
              <a:t>Article IX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950207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Integration Testing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424281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Real databases, not mocks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4681728"/>
            <a:ext cx="7498079" cy="1828800"/>
          </a:xfrm>
          <a:prstGeom prst="roundRect">
            <a:avLst>
              <a:gd name="adj" fmla="val 5000"/>
            </a:avLst>
          </a:prstGeom>
          <a:solidFill>
            <a:srgbClr val="0C160C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47548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8636"/>
                </a:solidFill>
              </a:rPr>
              <a:t>Why the Constitution Matters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16636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▶  Eliminates contradictory decisions across a long project lifetime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47725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▶  Gives AI agents a stable, trustworthy contract to code against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578815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▶  Reduces 'creative drift' where each session forgets prior choices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609904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▶  Creates onboarding documentation automatically for new contributors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Levels of Spec-Driven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</a:rPr>
              <a:t>Choose your commitment level — all are valid starting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749039" cy="53035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540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61872"/>
            <a:ext cx="1371600" cy="310896"/>
          </a:xfrm>
          <a:prstGeom prst="roundRect">
            <a:avLst>
              <a:gd name="adj" fmla="val 5000"/>
            </a:avLst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Entry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78516"/>
                </a:solidFill>
              </a:rPr>
              <a:t>spec-as-source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3566160" cy="594360"/>
          </a:xfrm>
          <a:prstGeom prst="roundRect">
            <a:avLst>
              <a:gd name="adj" fmla="val 5000"/>
            </a:avLst>
          </a:prstGeom>
          <a:solidFill>
            <a:srgbClr val="101825"/>
          </a:solidFill>
          <a:ln>
            <a:solidFill>
              <a:srgbClr val="25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6712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Creation: Spec + Code (parallel)
Evolution: Code first, spec follows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Spec created alongside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649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AI can write code without spec guidance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95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Spec updated after code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256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Best for: exploratory prototypes</a:t>
            </a:r>
          </a:p>
        </p:txBody>
      </p:sp>
      <p:sp>
        <p:nvSpPr>
          <p:cNvPr id="15" name="Oval 14"/>
          <p:cNvSpPr/>
          <p:nvPr/>
        </p:nvSpPr>
        <p:spPr>
          <a:xfrm>
            <a:off x="2057400" y="6263640"/>
            <a:ext cx="228600" cy="228600"/>
          </a:xfrm>
          <a:prstGeom prst="ellipse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188720"/>
            <a:ext cx="3749039" cy="53035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61872"/>
            <a:ext cx="1371600" cy="310896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Intermediate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664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8A6FF"/>
                </a:solidFill>
              </a:rPr>
              <a:t>spec-anchored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121408"/>
            <a:ext cx="3566160" cy="594360"/>
          </a:xfrm>
          <a:prstGeom prst="roundRect">
            <a:avLst>
              <a:gd name="adj" fmla="val 5000"/>
            </a:avLst>
          </a:prstGeom>
          <a:solidFill>
            <a:srgbClr val="101825"/>
          </a:solidFill>
          <a:ln>
            <a:solidFill>
              <a:srgbClr val="25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16712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Creation: Spec → Code
Evolution: Edit spec → Update 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Spec guides initial implementation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3649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Spec updated before major changes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895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AI always references spec for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256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Best for: production features</a:t>
            </a:r>
          </a:p>
        </p:txBody>
      </p:sp>
      <p:sp>
        <p:nvSpPr>
          <p:cNvPr id="26" name="Oval 25"/>
          <p:cNvSpPr/>
          <p:nvPr/>
        </p:nvSpPr>
        <p:spPr>
          <a:xfrm>
            <a:off x="5989320" y="6263640"/>
            <a:ext cx="228600" cy="2286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29600" y="1188720"/>
            <a:ext cx="3749039" cy="53035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54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1261872"/>
            <a:ext cx="1371600" cy="310896"/>
          </a:xfrm>
          <a:prstGeom prst="roundRect">
            <a:avLst>
              <a:gd name="adj" fmla="val 5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12801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Advanced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664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38636"/>
                </a:solidFill>
              </a:rPr>
              <a:t>spec-first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121408"/>
            <a:ext cx="3566160" cy="594360"/>
          </a:xfrm>
          <a:prstGeom prst="roundRect">
            <a:avLst>
              <a:gd name="adj" fmla="val 5000"/>
            </a:avLst>
          </a:prstGeom>
          <a:solidFill>
            <a:srgbClr val="101825"/>
          </a:solidFill>
          <a:ln>
            <a:solidFill>
              <a:srgbClr val="25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16712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Creation: Spec → Code
Evolution: New spec → New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Spec is the single source of truth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336499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No code changes without spec change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89534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Old spec discarded, new spec written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4256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9D1D9"/>
                </a:solidFill>
              </a:rPr>
              <a:t>✓  Best for: mission-critical systems</a:t>
            </a:r>
          </a:p>
        </p:txBody>
      </p:sp>
      <p:sp>
        <p:nvSpPr>
          <p:cNvPr id="37" name="Oval 36"/>
          <p:cNvSpPr/>
          <p:nvPr/>
        </p:nvSpPr>
        <p:spPr>
          <a:xfrm>
            <a:off x="9921240" y="6263640"/>
            <a:ext cx="228600" cy="228600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</a:rPr>
              <a:t>Increasing rigor &amp; spec fidelity 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Workflow Side-by-Side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</a:rPr>
              <a:t>Vibe Coding vs Spec-Driven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577840" cy="502920"/>
          </a:xfrm>
          <a:prstGeom prst="rect">
            <a:avLst/>
          </a:prstGeom>
          <a:solidFill>
            <a:srgbClr val="2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A3633"/>
                </a:solidFill>
              </a:rPr>
              <a:t>⚡  Vibe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43000"/>
            <a:ext cx="5577840" cy="502920"/>
          </a:xfrm>
          <a:prstGeom prst="rect">
            <a:avLst/>
          </a:prstGeom>
          <a:solidFill>
            <a:srgbClr val="0C2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8636"/>
                </a:solidFill>
              </a:rPr>
              <a:t>✓  Spec-Driven Dev</a:t>
            </a:r>
          </a:p>
        </p:txBody>
      </p:sp>
      <p:sp>
        <p:nvSpPr>
          <p:cNvPr id="9" name="Oval 8"/>
          <p:cNvSpPr/>
          <p:nvPr/>
        </p:nvSpPr>
        <p:spPr>
          <a:xfrm>
            <a:off x="5669280" y="1207008"/>
            <a:ext cx="530352" cy="530352"/>
          </a:xfrm>
          <a:prstGeom prst="ellipse">
            <a:avLst/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20700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783080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1E1010"/>
          </a:solidFill>
          <a:ln w="10160">
            <a:solidFill>
              <a:srgbClr val="5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3794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A3633"/>
                </a:solidFill>
              </a:rPr>
              <a:t>1. Write a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130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Hope the AI understands intent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783080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0A1E12"/>
          </a:solidFill>
          <a:ln w="10160">
            <a:solidFill>
              <a:srgbClr val="1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37943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8636"/>
                </a:solidFill>
              </a:rPr>
              <a:t>1. /speckit.constitution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30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Establish immutable project principles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551176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1E1010"/>
          </a:solidFill>
          <a:ln w="10160">
            <a:solidFill>
              <a:srgbClr val="5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606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A3633"/>
                </a:solidFill>
              </a:rPr>
              <a:t>2. Get boilerplate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986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AI generates generic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551176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0A1E12"/>
          </a:solidFill>
          <a:ln w="10160">
            <a:solidFill>
              <a:srgbClr val="1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6060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8636"/>
                </a:solidFill>
              </a:rPr>
              <a:t>2. /speckit.specify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9864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Write structured spec with criteria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319272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1E1010"/>
          </a:solidFill>
          <a:ln w="10160">
            <a:solidFill>
              <a:srgbClr val="5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3741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A3633"/>
                </a:solidFill>
              </a:rPr>
              <a:t>3. Test manually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667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Discover edge cases the hard way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319272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0A1E12"/>
          </a:solidFill>
          <a:ln w="10160">
            <a:solidFill>
              <a:srgbClr val="1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37413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8636"/>
                </a:solidFill>
              </a:rPr>
              <a:t>3. /speckit.clarify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66674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Resolve every ambiguity upfront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4087368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1E1010"/>
          </a:solidFill>
          <a:ln w="10160">
            <a:solidFill>
              <a:srgbClr val="5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14223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A3633"/>
                </a:solidFill>
              </a:rPr>
              <a:t>4. Prompt again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34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Describe what's wrong, repeat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087368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0A1E12"/>
          </a:solidFill>
          <a:ln w="10160">
            <a:solidFill>
              <a:srgbClr val="1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14223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8636"/>
                </a:solidFill>
              </a:rPr>
              <a:t>4. /speckit.plan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43484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Generate approved design document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4855464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1E1010"/>
          </a:solidFill>
          <a:ln w="10160">
            <a:solidFill>
              <a:srgbClr val="5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91032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A3633"/>
                </a:solidFill>
              </a:rPr>
              <a:t>5. Accumulate debt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2029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Each iteration adds hidden complexity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855464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0A1E12"/>
          </a:solidFill>
          <a:ln w="10160">
            <a:solidFill>
              <a:srgbClr val="1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910327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8636"/>
                </a:solidFill>
              </a:rPr>
              <a:t>5. /speckit.tasks + /speckit.implement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20293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Execute against design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623560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1E1010"/>
          </a:solidFill>
          <a:ln w="10160">
            <a:solidFill>
              <a:srgbClr val="5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6784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A3633"/>
                </a:solidFill>
              </a:rPr>
              <a:t>6. Ship &amp; pray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9710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No contract for 'done'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5623560"/>
            <a:ext cx="5577840" cy="685800"/>
          </a:xfrm>
          <a:prstGeom prst="roundRect">
            <a:avLst>
              <a:gd name="adj" fmla="val 5000"/>
            </a:avLst>
          </a:prstGeom>
          <a:solidFill>
            <a:srgbClr val="0A1E12"/>
          </a:solidFill>
          <a:ln w="10160">
            <a:solidFill>
              <a:srgbClr val="1A5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567842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38636"/>
                </a:solidFill>
              </a:rPr>
              <a:t>6. /speckit.checklist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97103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Verify against requirements — 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Multi-Agent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</a:rPr>
              <a:t>17+ AI coding assistants — one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1325880"/>
            <a:ext cx="384048" cy="38404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3258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Claude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391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Anthropic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79" y="123444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47287" y="1325880"/>
            <a:ext cx="384048" cy="384048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7" y="13258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9" y="1783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GitHub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20391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GitHub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23444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0D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79008" y="1325880"/>
            <a:ext cx="384048" cy="384048"/>
          </a:xfrm>
          <a:prstGeom prst="ellipse">
            <a:avLst/>
          </a:prstGeom>
          <a:solidFill>
            <a:srgbClr val="F0D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8" y="13258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1783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Gemini 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0391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Google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123444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79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10727" y="1325880"/>
            <a:ext cx="384048" cy="384048"/>
          </a:xfrm>
          <a:prstGeom prst="ellipse">
            <a:avLst/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13258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783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Cursor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0391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Cursor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23444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1A7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42448" y="1325880"/>
            <a:ext cx="384048" cy="384048"/>
          </a:xfrm>
          <a:prstGeom prst="ellipse">
            <a:avLst/>
          </a:prstGeom>
          <a:solidFill>
            <a:srgbClr val="1A7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42448" y="13258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17830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Kiro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03911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Kiro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46888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5568" y="2560320"/>
            <a:ext cx="384048" cy="384048"/>
          </a:xfrm>
          <a:prstGeom prst="ellipse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2560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017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Windsurf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2735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Codeium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7479" y="246888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74A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47287" y="2560320"/>
            <a:ext cx="384048" cy="384048"/>
          </a:xfrm>
          <a:prstGeom prst="ellipse">
            <a:avLst/>
          </a:prstGeom>
          <a:solidFill>
            <a:srgbClr val="74AA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47287" y="2560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199" y="3017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Codex CLI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199" y="32735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OpenAI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0" y="246888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779008" y="2560320"/>
            <a:ext cx="384048" cy="384048"/>
          </a:xfrm>
          <a:prstGeom prst="ellipse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79008" y="2560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3017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Roo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20" y="32735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Roo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60919" y="246888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F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10727" y="2560320"/>
            <a:ext cx="384048" cy="384048"/>
          </a:xfrm>
          <a:prstGeom prst="ellipse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10727" y="2560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3017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Qwen Code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06640" y="32735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Alibaba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92640" y="246888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442448" y="2560320"/>
            <a:ext cx="384048" cy="38404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42448" y="2560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8360" y="30175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IBM Bob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327355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IBM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370332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115568" y="3794760"/>
            <a:ext cx="384048" cy="384048"/>
          </a:xfrm>
          <a:prstGeom prst="ellipse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15568" y="3794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4251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opencode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45079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Apache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697479" y="370332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79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447287" y="3794760"/>
            <a:ext cx="384048" cy="384048"/>
          </a:xfrm>
          <a:prstGeom prst="ellipse">
            <a:avLst/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47287" y="3794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199" y="4251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SHAI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199" y="45079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OVHcloud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0" y="370332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1A7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779008" y="3794760"/>
            <a:ext cx="384048" cy="384048"/>
          </a:xfrm>
          <a:prstGeom prst="ellipse">
            <a:avLst/>
          </a:prstGeom>
          <a:solidFill>
            <a:srgbClr val="1A7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79008" y="3794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74920" y="4251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Auggie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074920" y="45079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Auggie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60919" y="370332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110727" y="3794760"/>
            <a:ext cx="384048" cy="384048"/>
          </a:xfrm>
          <a:prstGeom prst="ellipse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10727" y="3794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AG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06640" y="4251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06640" y="45079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Antigravity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692640" y="370332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F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442448" y="3794760"/>
            <a:ext cx="384048" cy="384048"/>
          </a:xfrm>
          <a:prstGeom prst="ellipse">
            <a:avLst/>
          </a:prstGeom>
          <a:solidFill>
            <a:srgbClr val="FF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442448" y="37947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38360" y="42519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CodeBuddy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738360" y="450799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CodeBuddy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5760" y="493776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F0D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15568" y="5029200"/>
            <a:ext cx="384048" cy="384048"/>
          </a:xfrm>
          <a:prstGeom prst="ellipse">
            <a:avLst/>
          </a:prstGeom>
          <a:solidFill>
            <a:srgbClr val="F0D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15568" y="5029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" y="54864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Qoder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57424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Qoder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697479" y="4937760"/>
            <a:ext cx="2103120" cy="10058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447287" y="5029200"/>
            <a:ext cx="384048" cy="384048"/>
          </a:xfrm>
          <a:prstGeom prst="ellipse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47287" y="5029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199" y="54864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Generic Agent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199" y="5742432"/>
            <a:ext cx="20116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949E"/>
                </a:solidFill>
              </a:rPr>
              <a:t>Bring Your Own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65760" y="5943600"/>
            <a:ext cx="11430000" cy="640080"/>
          </a:xfrm>
          <a:prstGeom prst="roundRect">
            <a:avLst>
              <a:gd name="adj" fmla="val 5000"/>
            </a:avLst>
          </a:prstGeom>
          <a:solidFill>
            <a:srgbClr val="0A1220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1440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8636"/>
                </a:solidFill>
              </a:rPr>
              <a:t>specify init my-project --ai claude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440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# or: --ai copilot  --ai gemini  --ai cursor  --ai kiro 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Getting Started with Spec-Kit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</a:rPr>
              <a:t>From zero to spec-driven in 4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54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252728"/>
            <a:ext cx="1417320" cy="457200"/>
          </a:xfrm>
          <a:prstGeom prst="roundRect">
            <a:avLst>
              <a:gd name="adj" fmla="val 5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5272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2527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38636"/>
                </a:solidFill>
              </a:rPr>
              <a:t>Install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261872"/>
            <a:ext cx="7040880" cy="685800"/>
          </a:xfrm>
          <a:prstGeom prst="rect">
            <a:avLst/>
          </a:prstGeom>
          <a:solidFill>
            <a:srgbClr val="08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289304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8636"/>
                </a:solidFill>
              </a:rPr>
              <a:t>uv tool install specify-cli \
  --from git+https://github.com/github/spec-kit.git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66420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Requires Python 3.11+. Works on macOS, Windows, Linux.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60320"/>
            <a:ext cx="116128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" y="2624327"/>
            <a:ext cx="1417320" cy="457200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624327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624327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8A6FF"/>
                </a:solidFill>
              </a:rPr>
              <a:t>Initialize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633472"/>
            <a:ext cx="7040880" cy="685800"/>
          </a:xfrm>
          <a:prstGeom prst="rect">
            <a:avLst/>
          </a:prstGeom>
          <a:solidFill>
            <a:srgbClr val="08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660903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8636"/>
                </a:solidFill>
              </a:rPr>
              <a:t>specify init my-awesome-project --ai claude
# Or: specify init . --ai 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03580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Creates .specify/ folder with templates, commands, and agent config.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931920"/>
            <a:ext cx="116128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540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0040" y="3995928"/>
            <a:ext cx="1417320" cy="457200"/>
          </a:xfrm>
          <a:prstGeom prst="roundRect">
            <a:avLst>
              <a:gd name="adj" fmla="val 5000"/>
            </a:avLst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99592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9959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8516"/>
                </a:solidFill>
              </a:rPr>
              <a:t>Spec &amp; Plan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005072"/>
            <a:ext cx="7040880" cy="685800"/>
          </a:xfrm>
          <a:prstGeom prst="rect">
            <a:avLst/>
          </a:prstGeom>
          <a:solidFill>
            <a:srgbClr val="08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032504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8636"/>
                </a:solidFill>
              </a:rPr>
              <a:t>/speckit.specify Build a photo album app with drag-and-drop
/speckit.plan Use Vite, vanilla JS, SQLite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40740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AI generates structured spec and implementation plan — reviewed before any code.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5303520"/>
            <a:ext cx="11612880" cy="123444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5400">
            <a:solidFill>
              <a:srgbClr val="79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0040" y="5367528"/>
            <a:ext cx="1417320" cy="457200"/>
          </a:xfrm>
          <a:prstGeom prst="roundRect">
            <a:avLst>
              <a:gd name="adj" fmla="val 5000"/>
            </a:avLst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36752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3675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94CFF"/>
                </a:solidFill>
              </a:rPr>
              <a:t>Implement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5376672"/>
            <a:ext cx="7040880" cy="685800"/>
          </a:xfrm>
          <a:prstGeom prst="rect">
            <a:avLst/>
          </a:prstGeom>
          <a:solidFill>
            <a:srgbClr val="080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5404104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38636"/>
                </a:solidFill>
              </a:rPr>
              <a:t>/speckit.tasks   # → actionable task list
/speckit.implement  # → AI writes code against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5779008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B949E"/>
                </a:solidFill>
              </a:rPr>
              <a:t>Tests generated from requirements. /speckit.checklist verifies quality before ship.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Real-World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0E0E0"/>
                </a:solidFill>
              </a:rPr>
              <a:t>What teams experience when they switch to Spec-Driven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540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38636"/>
                </a:solidFill>
              </a:rPr>
              <a:t>Up to 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Fewer
Rework Cycles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3347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Specs resolve ambiguity before code is written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18872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54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8A6FF"/>
                </a:solidFill>
              </a:rPr>
              <a:t>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57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Faster
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3347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New contributors understand the project via constitution + specs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540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2801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78516"/>
                </a:solidFill>
              </a:rPr>
              <a:t>Earlier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057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Bug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63347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Requirements-driven tests catch issues before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188720"/>
            <a:ext cx="2743200" cy="22860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25400">
            <a:solidFill>
              <a:srgbClr val="79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28016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794CFF"/>
                </a:solidFill>
              </a:rPr>
              <a:t>Higher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57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AI 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3347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Constitutional governance keeps AI decisions aligned across sessions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Ideal Use Cases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114800"/>
            <a:ext cx="5669280" cy="713232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24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4224528"/>
            <a:ext cx="45720" cy="50292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187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Greenfield 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44805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Start from zero with AI-generated architecture, specs, and tests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114800"/>
            <a:ext cx="5669280" cy="713232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82512" y="4224528"/>
            <a:ext cx="4572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4187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Legacy Modernization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44805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Spec existing code first, then refactor guided by those specs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956048"/>
            <a:ext cx="5669280" cy="713232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240">
            <a:solidFill>
              <a:srgbClr val="F785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" y="5065776"/>
            <a:ext cx="45720" cy="502920"/>
          </a:xfrm>
          <a:prstGeom prst="rect">
            <a:avLst/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Multi-Team 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3218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Shared constitution aligns distributed teams building related features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956048"/>
            <a:ext cx="5669280" cy="713232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240">
            <a:solidFill>
              <a:srgbClr val="794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82512" y="5065776"/>
            <a:ext cx="45720" cy="502920"/>
          </a:xfrm>
          <a:prstGeom prst="rect">
            <a:avLst/>
          </a:prstGeom>
          <a:solidFill>
            <a:srgbClr val="79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5392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Rapid Prototyping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53218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Spec-as-source level lets you move fast without losing context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5797296"/>
            <a:ext cx="5669280" cy="713232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240">
            <a:solidFill>
              <a:srgbClr val="1A7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" y="5907024"/>
            <a:ext cx="45720" cy="502920"/>
          </a:xfrm>
          <a:prstGeom prst="rect">
            <a:avLst/>
          </a:prstGeom>
          <a:solidFill>
            <a:srgbClr val="1A7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5870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Regulated Industries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1630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Specs become compliance artifacts; checklist ensures audit readiness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5797296"/>
            <a:ext cx="5669280" cy="713232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5240">
            <a:solidFill>
              <a:srgbClr val="DA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82512" y="5907024"/>
            <a:ext cx="45720" cy="50292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5392" y="5870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Open Source Projects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65392" y="61630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Constitution + specs onboard contributors without synchronous meetings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828800"/>
            <a:ext cx="7315200" cy="7315200"/>
          </a:xfrm>
          <a:prstGeom prst="ellipse">
            <a:avLst/>
          </a:prstGeom>
          <a:solidFill>
            <a:srgbClr val="0C2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Start Building Smarter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238636"/>
                </a:solidFill>
              </a:rPr>
              <a:t>Stop vibe coding. Start spec-driving.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9D1D9"/>
                </a:solidFill>
              </a:rPr>
              <a:t>Spec-Kit is free, open-source, and works with every major AI coding agent.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⭐  Star on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FFE8"/>
                </a:solidFill>
              </a:rPr>
              <a:t>github.com/github/spec-kit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46888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📦  Install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FFE8"/>
                </a:solidFill>
              </a:rPr>
              <a:t>specify init . --ai &lt;agent&gt;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468880"/>
            <a:ext cx="2743200" cy="1097280"/>
          </a:xfrm>
          <a:prstGeom prst="roundRect">
            <a:avLst>
              <a:gd name="adj" fmla="val 5000"/>
            </a:avLst>
          </a:prstGeom>
          <a:solidFill>
            <a:srgbClr val="F785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📖  Read the 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017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FFE8"/>
                </a:solidFill>
              </a:rPr>
              <a:t>Spec-Driven methodology guide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94760"/>
            <a:ext cx="11247120" cy="96012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9050">
            <a:solidFill>
              <a:srgbClr val="238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"Specifications are not overhead — they are the highest-leverage investment
 you can make in AI-assisted software development."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983480"/>
            <a:ext cx="12188952" cy="1874519"/>
          </a:xfrm>
          <a:prstGeom prst="rect">
            <a:avLst/>
          </a:prstGeom>
          <a:solidFill>
            <a:srgbClr val="08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38636"/>
                </a:solidFill>
              </a:rPr>
              <a:t>🌐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94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1D9"/>
                </a:solidFill>
              </a:rPr>
              <a:t>github.com/github/spec-kit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16352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38636"/>
                </a:solidFill>
              </a:rPr>
              <a:t>🐍 Install (pip/uv)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5394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1D9"/>
                </a:solidFill>
              </a:rPr>
              <a:t>specify-cli on PyPI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4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38636"/>
                </a:solidFill>
              </a:rPr>
              <a:t>📚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5394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1D9"/>
                </a:solidFill>
              </a:rPr>
              <a:t>spec-kit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4656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38636"/>
                </a:solidFill>
              </a:rPr>
              <a:t>💬 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4656" y="5394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1D9"/>
                </a:solidFill>
              </a:rPr>
              <a:t>GitHub Discussions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3808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38636"/>
                </a:solidFill>
              </a:rPr>
              <a:t>📜 Methodology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539496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9D1D9"/>
                </a:solidFill>
              </a:rPr>
              <a:t>spec-driven.md in repo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MIT License  ·  Open Source  ·  Contributions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